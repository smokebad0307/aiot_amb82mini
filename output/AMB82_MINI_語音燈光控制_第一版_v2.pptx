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d9e3f6d9641f7" /><Relationship Type="http://schemas.openxmlformats.org/officeDocument/2006/relationships/extended-properties" Target="/docProps/app.xml" Id="R4c23b6e421584687" /><Relationship Type="http://schemas.openxmlformats.org/officeDocument/2006/relationships/officeDocument" Target="/ppt/presentation.xml" Id="R82a8e2a395fb45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155b5bbf07439c"/>
  </p:sldMasterIdLst>
  <p:notesMasterIdLst>
    <p:notesMasterId xmlns:r="http://schemas.openxmlformats.org/officeDocument/2006/relationships" r:id="Rc0d78fd0fdce4d57"/>
  </p:notesMasterIdLst>
  <p:sldIdLst>
    <p:sldId xmlns:r="http://schemas.openxmlformats.org/officeDocument/2006/relationships" id="256" r:id="R8d2960c6785c4349"/>
    <p:sldId xmlns:r="http://schemas.openxmlformats.org/officeDocument/2006/relationships" id="257" r:id="R6879618bd8a44c13"/>
    <p:sldId xmlns:r="http://schemas.openxmlformats.org/officeDocument/2006/relationships" id="258" r:id="R5e421756edfc4a07"/>
    <p:sldId xmlns:r="http://schemas.openxmlformats.org/officeDocument/2006/relationships" id="259" r:id="Rba89321dcde94f4b"/>
    <p:sldId xmlns:r="http://schemas.openxmlformats.org/officeDocument/2006/relationships" id="260" r:id="R33b841bfa49a4523"/>
    <p:sldId xmlns:r="http://schemas.openxmlformats.org/officeDocument/2006/relationships" id="261" r:id="R11a14b5945ba4180"/>
    <p:sldId xmlns:r="http://schemas.openxmlformats.org/officeDocument/2006/relationships" id="262" r:id="Rcaba75b6db7648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82f5e56f3c427f" /><Relationship Type="http://schemas.openxmlformats.org/officeDocument/2006/relationships/slideMaster" Target="/ppt/slideMasters/slideMaster1.xml" Id="Rd5155b5bbf07439c" /><Relationship Type="http://schemas.openxmlformats.org/officeDocument/2006/relationships/notesMaster" Target="/ppt/notesMasters/notesMaster1.xml" Id="Rc0d78fd0fdce4d57" /><Relationship Type="http://schemas.openxmlformats.org/officeDocument/2006/relationships/presProps" Target="/ppt/presProps.xml" Id="Rdfb64a9576e14f59" /><Relationship Type="http://schemas.openxmlformats.org/officeDocument/2006/relationships/tableStyles" Target="/ppt/tableStyles.xml" Id="Rf2f2cb2265ed4698" /><Relationship Type="http://schemas.openxmlformats.org/officeDocument/2006/relationships/slide" Target="/ppt/slides/slide1.xml" Id="R8d2960c6785c4349" /><Relationship Type="http://schemas.openxmlformats.org/officeDocument/2006/relationships/slide" Target="/ppt/slides/slide2.xml" Id="R6879618bd8a44c13" /><Relationship Type="http://schemas.openxmlformats.org/officeDocument/2006/relationships/slide" Target="/ppt/slides/slide3.xml" Id="R5e421756edfc4a07" /><Relationship Type="http://schemas.openxmlformats.org/officeDocument/2006/relationships/slide" Target="/ppt/slides/slide4.xml" Id="Rba89321dcde94f4b" /><Relationship Type="http://schemas.openxmlformats.org/officeDocument/2006/relationships/slide" Target="/ppt/slides/slide5.xml" Id="R33b841bfa49a4523" /><Relationship Type="http://schemas.openxmlformats.org/officeDocument/2006/relationships/slide" Target="/ppt/slides/slide6.xml" Id="R11a14b5945ba4180" /><Relationship Type="http://schemas.openxmlformats.org/officeDocument/2006/relationships/slide" Target="/ppt/slides/slide7.xml" Id="Rcaba75b6db7648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8250e5d4e04b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55e10e1ead4990" /><Relationship Type="http://schemas.openxmlformats.org/officeDocument/2006/relationships/notesMaster" Target="/ppt/notesMasters/notesMaster1.xml" Id="R29a64d75a03748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93ef0f442d42ab" /><Relationship Type="http://schemas.openxmlformats.org/officeDocument/2006/relationships/notesMaster" Target="/ppt/notesMasters/notesMaster1.xml" Id="Ra2287a51881e48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ecc5e65f9046fe" /><Relationship Type="http://schemas.openxmlformats.org/officeDocument/2006/relationships/notesMaster" Target="/ppt/notesMasters/notesMaster1.xml" Id="R1a61d249a3b44f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2a5aebbc9842d1" /><Relationship Type="http://schemas.openxmlformats.org/officeDocument/2006/relationships/notesMaster" Target="/ppt/notesMasters/notesMaster1.xml" Id="Rde1ab583d0f74e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2154082ce64224" /><Relationship Type="http://schemas.openxmlformats.org/officeDocument/2006/relationships/notesMaster" Target="/ppt/notesMasters/notesMaster1.xml" Id="Re68581378f1340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3456ffd6fa4d82" /><Relationship Type="http://schemas.openxmlformats.org/officeDocument/2006/relationships/notesMaster" Target="/ppt/notesMasters/notesMaster1.xml" Id="R00a9e028861c4e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3f5dc4dd064c0d" /><Relationship Type="http://schemas.openxmlformats.org/officeDocument/2006/relationships/notesMaster" Target="/ppt/notesMasters/notesMaster1.xml" Id="R223d958bdb0b42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圖片來源：Realtek Ameba Arduino AIoT Documentation，AMB82-mini 官方開發板圖片。https://ameba-doc-arduino-sdk.readthedocs-hosted.com/en/latest/ameba_pro2/amb82-mini/index.html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內容來源：本專案功能需求與目前實作。相關檔案：VoiceLedController.ino、web_page.h。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架構依據：VoiceLedController/web_page.h 與 VoiceLedController/VoiceLedController.ino。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流程依據：web_page.h 中的 SpeechRecognition、commandPhrases、sendCommand，以及 VoiceLedController.ino 中的 applyCommand、makeStateJson。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圖片來源：Realtek Ameba Arduino AIoT Documentation，AMB82-MINI LED pin mapping。https://ameba-doc-arduino-sdk.readthedocs-hosted.com/en/latest/ameba_pro2/amb82-mini/Getting_Started/Getting%20Started%20with%20Ameba.html</a:t>
            </a:r>
          </a:p>
          <a:p xmlns:a="http://schemas.openxmlformats.org/drawingml/2006/main">
            <a:r>
              <a:t>指令表來源：本專案 web_page.h 與 VoiceLedController.ino。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異常處理來源：本專案 web_page.h 中的 recognition.onerror、fetchJson、sendCommand，以及 VoiceLedController.ino 中的非法指令處理。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操作流程來源：README.md 與本專案實際連線流程。已知限制：瀏覽器可能因 HTTP 非安全來源封鎖麥克風；手動按鈕不受此限制。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975c90a3b4b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344fff12b41ab" /><Relationship Type="http://schemas.openxmlformats.org/officeDocument/2006/relationships/slideLayout" Target="/ppt/slideLayouts/slideLayout1.xml" Id="Rcb7b6119599346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7b6119599346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c36f3d0774e16" /><Relationship Type="http://schemas.openxmlformats.org/officeDocument/2006/relationships/image" Target="/ppt/media/image.png" Id="R0072fe41d63648ed" /><Relationship Type="http://schemas.openxmlformats.org/officeDocument/2006/relationships/notesSlide" Target="/ppt/notesSlides/notesSlide1.xml" Id="R820e4d10e57940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8df705f77433f" /><Relationship Type="http://schemas.openxmlformats.org/officeDocument/2006/relationships/notesSlide" Target="/ppt/notesSlides/notesSlide2.xml" Id="R634538e6eb2b45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7cb942a3548d2" /><Relationship Type="http://schemas.openxmlformats.org/officeDocument/2006/relationships/notesSlide" Target="/ppt/notesSlides/notesSlide3.xml" Id="Rc0b4005470ec4c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81c255127446a" /><Relationship Type="http://schemas.openxmlformats.org/officeDocument/2006/relationships/notesSlide" Target="/ppt/notesSlides/notesSlide4.xml" Id="R78785896a44e4b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b4d0ca74a4ece" /><Relationship Type="http://schemas.openxmlformats.org/officeDocument/2006/relationships/image" Target="/ppt/media/image2.png" Id="R9aada5b504ce4779" /><Relationship Type="http://schemas.openxmlformats.org/officeDocument/2006/relationships/notesSlide" Target="/ppt/notesSlides/notesSlide5.xml" Id="Rc95e617f15cb4f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ecdaea7f5488b" /><Relationship Type="http://schemas.openxmlformats.org/officeDocument/2006/relationships/notesSlide" Target="/ppt/notesSlides/notesSlide6.xml" Id="Rf7ad37ed389942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f382a3aa14c4f" /><Relationship Type="http://schemas.openxmlformats.org/officeDocument/2006/relationships/notesSlide" Target="/ppt/notesSlides/notesSlide7.xml" Id="R01a6b3da247240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9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B4D92-B217-4BDD-BDB3-245615AB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0FFC2-1CE9-4101-9C03-FB6BEF37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3D84E-C7E2-4C2B-9C0C-567AC78D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3812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329F3-CE41-4E33-9D6A-2802EF29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79ADFF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79ADFF"/>
                </a:solidFill>
                <a:latin typeface="Noto Sans TC"/>
                <a:ea typeface="Noto Sans TC"/>
                <a:cs typeface="Noto Sans TC"/>
              </a:rPr>
              <a:t>AMB82-MINI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76351-A2D0-4CF2-BAD4-22983E9D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581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4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語音燈光控制系統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ADBD1-1BE9-48BF-949A-1BC6E0A2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C3D2E4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C3D2E4"/>
                </a:solidFill>
                <a:latin typeface="Noto Sans TC"/>
                <a:ea typeface="Noto Sans TC"/>
                <a:cs typeface="Noto Sans TC"/>
              </a:rPr>
              <a:t>瀏覽器語音辨識、Wi-Fi 指令傳輸與板載 LED 狀態回報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EA173-AA64-4F28-B8B5-834DC91E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56669-D567-4E31-9FD5-AC962277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957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73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2fe41d63648ed"/>
          <a:stretch xmlns:a="http://schemas.openxmlformats.org/drawingml/2006/main"/>
        </p:blipFill>
        <p:spPr>
          <a:xfrm xmlns:a="http://schemas.openxmlformats.org/drawingml/2006/main">
            <a:off x="6334125" y="1724039"/>
            <a:ext cx="5286375" cy="325752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CDC8C-E7EA-4FDF-8874-C9A53981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8FA4B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8FA4BC"/>
                </a:solidFill>
                <a:latin typeface="Noto Sans TC"/>
                <a:ea typeface="Noto Sans TC"/>
                <a:cs typeface="Noto Sans TC"/>
              </a:rPr>
              <a:t>第一版專案簡報</a:t>
            </a:r>
          </a:p>
        </p:txBody>
      </p:sp>
    </p:spTree>
    <p:extLst>
      <p:ext uri="{BB962C8B-B14F-4D97-AF65-F5344CB8AC3E}">
        <p14:creationId xmlns:p14="http://schemas.microsoft.com/office/powerpoint/2010/main" val="1510522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2B01C-4BCF-40AA-BAFB-1BBB4C8D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專案目標與功能要求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4BE9F-D63D-4A32-B203-99F98876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511EE-6BFD-46BD-A615-24690389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620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以可驗證的語音控制流程完成兩顆板載 LED 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00AC7-0CF5-467C-A53E-518F6BE9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51185-C1B6-4FE9-99C2-6F5001B7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7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語音輸入與辨識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3B3BD-BD0C-4058-A791-EF665AFB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95500"/>
            <a:ext cx="442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支援「左邊開燈」與「右邊開燈」，並顯示辨識文字。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6746D-8A0F-4F0E-A251-E6A71EBB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57DBF-D215-40D6-8507-88FEA0C8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FCB0B-9EB0-4B01-BA89-13A8310C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7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指令傳輸與控制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1E8B9-A056-46AF-A22E-9572B2FE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442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將合法語句轉為 HTTP 指令，控制 LED_B 藍燈與 LED_G 綠燈。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C7023-3913-4218-8DE4-F3C1C6DA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99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60633-3143-4228-A1E0-3D449AA2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7336F-9FB6-4290-8EEA-AD4F60F4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9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操作回饋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E2D19-FB6B-4ADF-A947-C283EBE0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442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顯示執行結果，LED 狀態以 AMB82-MINI 回傳資訊為準。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B1377-2CF1-4628-A9A7-E922F6F6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482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4C336-6170-41C2-8752-986CC052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480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8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8101E-39EC-4138-B54E-576E09E9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09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異常處理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818B3-6A7E-4F55-A397-F69B5DEF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33850"/>
            <a:ext cx="442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非控制語句不改燈，辨識或通訊失敗時顯示原因。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F8B0D-C629-41F7-8BE4-F031086B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5ACAE-CD91-447D-8338-C1E75C7F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0668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4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02A48"/>
                </a:solidFill>
                <a:latin typeface="Noto Sans TC"/>
                <a:ea typeface="Noto Sans TC"/>
                <a:cs typeface="Noto Sans TC"/>
              </a:rPr>
              <a:t>控制原則：前端與板端都採白名單驗證，任何不確定輸入都不改變 LED。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F6452-A7F9-4A54-A512-CC44086A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rPr>
              <a:t>AMB82-MINI 語音燈光控制  ·  02</a:t>
            </a:r>
          </a:p>
        </p:txBody>
      </p:sp>
    </p:spTree>
    <p:extLst>
      <p:ext uri="{BB962C8B-B14F-4D97-AF65-F5344CB8AC3E}">
        <p14:creationId xmlns:p14="http://schemas.microsoft.com/office/powerpoint/2010/main" val="128267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344025" y="288131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0B8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00875" y="288131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0B8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57725" y="288131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0B8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14575" y="288131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0B8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DEA5-001F-42B6-8862-5C0283F5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系統架構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79936-DD6B-4D81-9244-627531F0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C83E8-5654-469B-A0C5-67228FC8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620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語音辨識在瀏覽器完成，AMB82-MINI 負責指令驗證與實體控制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86196-B388-4E07-AF86-E87078B9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790700" cy="157162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A4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34710-9347-42A2-B816-9F7FB396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4315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02A4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02A48"/>
                </a:solidFill>
                <a:latin typeface="Noto Sans TC"/>
                <a:ea typeface="Noto Sans TC"/>
                <a:cs typeface="Noto Sans TC"/>
              </a:rPr>
              <a:t>使用者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790D7-5328-4FBE-A781-95A520B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05125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說出中文指令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E04DB-8B32-4692-9B0B-6023F6FB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95500"/>
            <a:ext cx="1790700" cy="157162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7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3673E-7D3F-49E4-9339-B32B4875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4315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2F7CF6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F7CF6"/>
                </a:solidFill>
                <a:latin typeface="Noto Sans TC"/>
                <a:ea typeface="Noto Sans TC"/>
                <a:cs typeface="Noto Sans TC"/>
              </a:rPr>
              <a:t>瀏覽器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97229-C078-49AF-A040-6220A347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05125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Web Speech API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zh-TW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73872-CD26-4129-BA2C-D3A47F4C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95500"/>
            <a:ext cx="1790700" cy="157162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8A6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52B76-190C-4135-9DD7-67FB563C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4315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E8A62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E8A62A"/>
                </a:solidFill>
                <a:latin typeface="Noto Sans TC"/>
                <a:ea typeface="Noto Sans TC"/>
                <a:cs typeface="Noto Sans TC"/>
              </a:rPr>
              <a:t>HTTP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8132D-C8EC-4E16-8FC5-52CC42A7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05125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POST /api/command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04DE7-2C32-41F5-BC8B-8FBA1ED3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95500"/>
            <a:ext cx="1790700" cy="157162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A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2CE3C-83E3-4614-A265-BDFE6C99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34315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02A4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02A48"/>
                </a:solidFill>
                <a:latin typeface="Noto Sans TC"/>
                <a:ea typeface="Noto Sans TC"/>
                <a:cs typeface="Noto Sans TC"/>
              </a:rPr>
              <a:t>AMB82-MINI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BEC52-E32E-4AA2-965D-DFFD31EE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05125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Wi-Fi Server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白名單驗證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89A8C-5CA7-458A-B6F8-049F1733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095500"/>
            <a:ext cx="1790700" cy="157162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0B8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662D1-93C5-493D-BC5D-A56BCCD3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34315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20B87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0B873"/>
                </a:solidFill>
                <a:latin typeface="Noto Sans TC"/>
                <a:ea typeface="Noto Sans TC"/>
                <a:cs typeface="Noto Sans TC"/>
              </a:rPr>
              <a:t>板載 LED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5B808-E24E-4B74-8404-33C646FE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05125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LED_B 藍燈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LED_G 綠燈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5FCA3-416A-410C-9F5E-FC69836B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0B873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20B873"/>
                </a:solidFill>
                <a:latin typeface="Noto Sans TC"/>
                <a:ea typeface="Noto Sans TC"/>
                <a:cs typeface="Noto Sans TC"/>
              </a:rPr>
              <a:t>板端狀態回傳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E8904-0739-4D08-99A8-1B07845C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386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B8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ED58B-CBBD-46D9-A3FB-4A42E3D6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895850"/>
            <a:ext cx="700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GET /api/state 每 5 秒更新 blue、green、lastCommand 與 message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76944-2972-4B7D-87F6-49BE07E7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959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02A4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02A48"/>
                </a:solidFill>
                <a:latin typeface="Noto Sans TC"/>
                <a:ea typeface="Noto Sans TC"/>
                <a:cs typeface="Noto Sans TC"/>
              </a:rPr>
              <a:t>語音音訊不會送到 AMB82-MINI；開發板只接收整理後的控制代碼。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C648D-674A-407B-9B5E-3E01998F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rPr>
              <a:t>AMB82-MINI 語音燈光控制  ·  03</a:t>
            </a:r>
          </a:p>
        </p:txBody>
      </p:sp>
    </p:spTree>
    <p:extLst>
      <p:ext uri="{BB962C8B-B14F-4D97-AF65-F5344CB8AC3E}">
        <p14:creationId xmlns:p14="http://schemas.microsoft.com/office/powerpoint/2010/main" val="373485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886950" y="31242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CF6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934325" y="31242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CF6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81700" y="31242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CF6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29075" y="31242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CF6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76450" y="31242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CF6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E328FE-BF5F-44DF-8EAE-8A366C86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完整執行流程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E9CD9-8197-4452-B535-EA7A651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70E2B-8F50-498D-8C33-69B5661F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620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從語音輸入到板端狀態確認，共六個可觀察步驟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6F016-9926-4C6D-B3DE-9194E9D0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57400"/>
            <a:ext cx="160020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66D43-A4F5-4900-806E-8A897642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588F0-59F5-44B5-99CA-D5837AD8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按下麥克風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105EA-D200-4BA0-9D52-ED8FD3FA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瀏覽器要求麥克風權限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FF3AC-AFAA-4359-A570-4B954744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57400"/>
            <a:ext cx="160020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E4B3E-BDE1-4B0B-A84A-E4EFCB65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2479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6B01C-798B-4D5A-AE41-019B7F92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76225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辨識語音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8A4F6-1722-4241-AF33-F8C0F017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480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Web Speech API 產生中文文字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F9A56-6213-4577-9792-3C73A6DE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57400"/>
            <a:ext cx="160020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2F07F-F1F5-4B42-9E77-2B42B672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ADD08-0F15-4412-9834-E78FDE1F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比對白名單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D7FC0-2A70-4E4B-B9EF-76B841B3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480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只接受定義好的控制語句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9FEB8-3DF7-4662-BEEF-9DE8310D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57400"/>
            <a:ext cx="160020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DCEEB-875A-4E5D-A405-6DFB9265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479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8F95C-10A1-4344-9D16-EEDD75B3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6225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傳送指令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9EF25-D2D0-44B3-8AEC-2694C458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4480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以 HTTP POST 傳給開發板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A3DBD-BCF2-4B9A-907E-3E52E204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160020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0B8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71486-EF88-42DB-BCA9-9CE9D59B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D1AF7-8FDA-43FC-9306-B569DAC1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控制 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EFCD1-9B84-4138-9354-4FA78E5B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480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板端再次驗證並執行 digitalWrite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5E5626-0B53-4567-B73C-376873D0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057400"/>
            <a:ext cx="160020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17C9F-E6D2-4E29-B48D-D2C87079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479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F05632-A873-4234-AECB-D77A6E20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76225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回傳結果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54FE0-365C-4C4A-804D-ADB3297F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4480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網頁依 JSON 更新狀態與訊息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E2AFF3-36CD-4A5E-B532-B01EC3EB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67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9586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E95863"/>
                </a:solidFill>
                <a:latin typeface="Noto Sans TC"/>
                <a:ea typeface="Noto Sans TC"/>
                <a:cs typeface="Noto Sans TC"/>
              </a:rPr>
              <a:t>安全節點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B2D633-68E8-4886-B5FB-B41C2FAD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24450"/>
            <a:ext cx="75247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02A4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02A48"/>
                </a:solidFill>
                <a:latin typeface="Noto Sans TC"/>
                <a:ea typeface="Noto Sans TC"/>
                <a:cs typeface="Noto Sans TC"/>
              </a:rPr>
              <a:t>步驟 3 與步驟 5 各做一次白名單驗證；任一層拒絕，LED 都維持原狀。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909D31-364A-4DA5-A62E-AF825BC0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rPr>
              <a:t>AMB82-MINI 語音燈光控制  ·  04</a:t>
            </a:r>
          </a:p>
        </p:txBody>
      </p:sp>
    </p:spTree>
    <p:extLst>
      <p:ext uri="{BB962C8B-B14F-4D97-AF65-F5344CB8AC3E}">
        <p14:creationId xmlns:p14="http://schemas.microsoft.com/office/powerpoint/2010/main" val="1689514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87AF2-0550-45B8-9A79-E0872755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功能介紹與指令對照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5F689-636E-4079-B2D9-4E2C5323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8F1E1-D3EB-4332-84F9-C865B9C4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620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語音和手動按鈕共用同一組板端控制 API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16192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809750"/>
                <a:gridCol w="2286000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使用者語句</a:t>
                      </a:r>
                    </a:p>
                  </a:txBody>
                  <a:tcPr marL="95250" marR="95250" marT="76200" marB="76200" anchor="ctr">
                    <a:solidFill>
                      <a:srgbClr val="102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API 指令</a:t>
                      </a:r>
                    </a:p>
                  </a:txBody>
                  <a:tcPr marL="95250" marR="95250" marT="76200" marB="76200" anchor="ctr">
                    <a:solidFill>
                      <a:srgbClr val="102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板端結果</a:t>
                      </a:r>
                    </a:p>
                  </a:txBody>
                  <a:tcPr marL="95250" marR="95250" marT="76200" marB="76200" anchor="ctr">
                    <a:solidFill>
                      <a:srgbClr val="102A4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左邊開燈／開藍燈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left_on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LED_B 開啟</a:t>
                      </a:r>
                    </a:p>
                  </a:txBody>
                  <a:tcPr marL="95250" marR="95250" marT="76200" marB="76200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右邊開燈／開綠燈</a:t>
                      </a:r>
                    </a:p>
                  </a:txBody>
                  <a:tcPr marL="95250" marR="95250" marT="76200" marB="76200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right_on</a:t>
                      </a:r>
                    </a:p>
                  </a:txBody>
                  <a:tcPr marL="95250" marR="95250" marT="76200" marB="76200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LED_G 開啟</a:t>
                      </a:r>
                    </a:p>
                  </a:txBody>
                  <a:tcPr marL="95250" marR="95250" marT="76200" marB="76200" anchor="ctr">
                    <a:solidFill>
                      <a:srgbClr val="F1F5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左邊關燈／關藍燈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left_off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LED_B 關閉</a:t>
                      </a:r>
                    </a:p>
                  </a:txBody>
                  <a:tcPr marL="95250" marR="95250" marT="76200" marB="76200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右邊關燈／關綠燈</a:t>
                      </a:r>
                    </a:p>
                  </a:txBody>
                  <a:tcPr marL="95250" marR="95250" marT="76200" marB="76200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right_off</a:t>
                      </a:r>
                    </a:p>
                  </a:txBody>
                  <a:tcPr marL="95250" marR="95250" marT="76200" marB="76200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LED_G 關閉</a:t>
                      </a:r>
                    </a:p>
                  </a:txBody>
                  <a:tcPr marL="95250" marR="95250" marT="76200" marB="76200" anchor="ctr">
                    <a:solidFill>
                      <a:srgbClr val="F1F5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全部關燈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all_off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兩顆 LED 關閉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da5b504ce4779"/>
          <a:stretch xmlns:a="http://schemas.openxmlformats.org/drawingml/2006/main"/>
        </p:blipFill>
        <p:spPr>
          <a:xfrm xmlns:a="http://schemas.openxmlformats.org/drawingml/2006/main">
            <a:off x="8714445" y="1524000"/>
            <a:ext cx="2478359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84EEA-B05B-41C8-834D-3AD38ACB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6388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2F7CF6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2F7CF6"/>
                </a:solidFill>
                <a:latin typeface="Noto Sans TC"/>
                <a:ea typeface="Noto Sans TC"/>
                <a:cs typeface="Noto Sans TC"/>
              </a:rPr>
              <a:t>LED_B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91B50-B128-4B6D-9D1D-17F8BD59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6388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20B873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20B873"/>
                </a:solidFill>
                <a:latin typeface="Noto Sans TC"/>
                <a:ea typeface="Noto Sans TC"/>
                <a:cs typeface="Noto Sans TC"/>
              </a:rPr>
              <a:t>LED_G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F5610-3917-4539-B803-F034D016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rPr>
              <a:t>AMB82-MINI 語音燈光控制  ·  05</a:t>
            </a:r>
          </a:p>
        </p:txBody>
      </p:sp>
    </p:spTree>
    <p:extLst>
      <p:ext uri="{BB962C8B-B14F-4D97-AF65-F5344CB8AC3E}">
        <p14:creationId xmlns:p14="http://schemas.microsoft.com/office/powerpoint/2010/main" val="1751471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B83B3-509F-41F0-BD3C-33E6EAC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異常處理與狀態可信度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A2822-CBCA-4319-8AB1-15D99D8D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3A1FB-C647-45B8-8411-7041330F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620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錯誤訊息說明原因，介面不會自行假設 LED 已成功切換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5000625"/>
                <a:gridCol w="3143250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情況</a:t>
                      </a:r>
                    </a:p>
                  </a:txBody>
                  <a:tcPr marL="114300" marR="114300" marT="76200" marB="76200" anchor="ctr">
                    <a:solidFill>
                      <a:srgbClr val="102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系統行為</a:t>
                      </a:r>
                    </a:p>
                  </a:txBody>
                  <a:tcPr marL="114300" marR="114300" marT="76200" marB="76200" anchor="ctr">
                    <a:solidFill>
                      <a:srgbClr val="102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LED 狀態</a:t>
                      </a:r>
                    </a:p>
                  </a:txBody>
                  <a:tcPr marL="114300" marR="114300" marT="76200" marB="76200" anchor="ctr">
                    <a:solidFill>
                      <a:srgbClr val="102A4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無法辨識語音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顯示辨識失敗，不傳送 API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958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保持不變</a:t>
                      </a:r>
                    </a:p>
                  </a:txBody>
                  <a:tcPr marL="114300" marR="114300" marT="76200" marB="76200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非控制語句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前端白名單拒絕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958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保持不變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非法 API 指令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板端回傳 HTTP 400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958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保持不變</a:t>
                      </a:r>
                    </a:p>
                  </a:txBody>
                  <a:tcPr marL="114300" marR="114300" marT="76200" marB="76200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開發板或 Wi-Fi 中斷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顯示逾時／通訊中斷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標示為未知，等待重新查詢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合法指令成功</a:t>
                      </a:r>
                    </a:p>
                  </a:txBody>
                  <a:tcPr marL="114300" marR="114300" marT="76200" marB="76200" anchor="ctr">
                    <a:solidFill>
                      <a:srgbClr val="E5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接收板端 JSON 後更新介面</a:t>
                      </a:r>
                    </a:p>
                  </a:txBody>
                  <a:tcPr marL="114300" marR="114300" marT="76200" marB="76200" anchor="ctr">
                    <a:solidFill>
                      <a:srgbClr val="E5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2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依 digitalRead 回報</a:t>
                      </a:r>
                    </a:p>
                  </a:txBody>
                  <a:tcPr marL="114300" marR="114300" marT="76200" marB="76200" anchor="ctr">
                    <a:solidFill>
                      <a:srgbClr val="E5F8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56CF1-3B05-4B57-9F31-BB7A99C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rPr>
              <a:t>板端回報欄位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C8182-23E0-4D87-8EC7-32DD7253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6388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blue · green · sequence · lastCommand · 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537B2-1FB1-4FE8-ACDA-D418DC6F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rPr>
              <a:t>AMB82-MINI 語音燈光控制  ·  06</a:t>
            </a:r>
          </a:p>
        </p:txBody>
      </p:sp>
    </p:spTree>
    <p:extLst>
      <p:ext uri="{BB962C8B-B14F-4D97-AF65-F5344CB8AC3E}">
        <p14:creationId xmlns:p14="http://schemas.microsoft.com/office/powerpoint/2010/main" val="1442075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94F3D0-55DA-4538-B622-5732A4D2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操作方式與驗收項目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78AFD-8024-4B1A-BA10-0124B064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A8D81-D46C-4F58-B390-B53A1569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620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展示前先確認網路、網址與瀏覽器權限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9F7D3-FD1D-48FD-8169-D86947BE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F7CF6"/>
                </a:solidFill>
                <a:latin typeface="Noto Sans TC"/>
                <a:ea typeface="Noto Sans TC"/>
                <a:cs typeface="Noto Sans TC"/>
              </a:rPr>
              <a:t>操作流程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5FD0D-D47D-49EA-B639-0B22DB4D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F038A-388F-49CF-A686-B7ED1A21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240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填入 Wi-Fi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03BBF-A87D-44E5-AA83-DE4A7CE6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86025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在 wifi_config.h 設定 SSID 與密碼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C6E24-E9D1-4BFF-997F-D81E5A82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EEC10-5B7F-492D-9E20-E0B79128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908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燒錄程式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3BF2C-B727-467B-9C59-BD57FAFC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選擇 AMB82-MINI 並上傳韌體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86347-8545-4750-BDDA-9A01E217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607D6-9386-424C-BD8C-4AA3EB68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取得網址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16C21-24E6-4F2E-9D61-2927ACFE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9575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序列監控 115200 baud 讀取板子 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2F6FC-2BA2-4D1A-8348-97D07C3C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52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372ED-EA6E-4770-9075-C952EC1A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開始操作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E103E-A227-4487-A3E2-02B79CE8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開啟 http://板子IP，允許麥克風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321F4-3CAE-4ABD-863E-EF00986F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002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91934-2FC1-4EF9-921C-4DCBEAC7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71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rPr>
              <a:t>驗收結果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17128-0F3A-4B03-9D28-266B1640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8EF"/>
          </a:solidFill>
          <a:ln xmlns:a="http://schemas.openxmlformats.org/drawingml/2006/main" w="9525">
            <a:solidFill>
              <a:srgbClr val="20B87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135AE-2DCC-4CCE-A863-6BA9DC4F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71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說「左邊開燈」後藍燈亮起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FAFC4-6E78-41F7-AD3B-78036B48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8EF"/>
          </a:solidFill>
          <a:ln xmlns:a="http://schemas.openxmlformats.org/drawingml/2006/main" w="9525">
            <a:solidFill>
              <a:srgbClr val="20B87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ED672-E379-4AC2-AE37-3BA31392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說「右邊開燈」後綠燈亮起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77E41-74B5-4EE4-B832-48B8520C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67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8EF"/>
          </a:solidFill>
          <a:ln xmlns:a="http://schemas.openxmlformats.org/drawingml/2006/main" w="9525">
            <a:solidFill>
              <a:srgbClr val="20B87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5B641-DF46-436B-A964-83043792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29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非控制語句不改變 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94BAA-07A1-4625-A7E4-9082692C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8EF"/>
          </a:solidFill>
          <a:ln xmlns:a="http://schemas.openxmlformats.org/drawingml/2006/main" w="9525">
            <a:solidFill>
              <a:srgbClr val="20B87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86B85-C3D0-4C42-9693-71B2CC7D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576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通訊中斷時顯示錯誤提示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1BB299-D6AB-49DD-ABD5-FBDB11CB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24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8EF"/>
          </a:solidFill>
          <a:ln xmlns:a="http://schemas.openxmlformats.org/drawingml/2006/main" w="9525">
            <a:solidFill>
              <a:srgbClr val="20B87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0B87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94D61-62B3-40F6-8A4A-8B42689A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863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0243E"/>
                </a:solidFill>
                <a:latin typeface="Noto Sans TC"/>
                <a:ea typeface="Noto Sans TC"/>
                <a:cs typeface="Noto Sans TC"/>
              </a:rPr>
              <a:t>介面狀態與板端回傳一致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E3080-B89A-4645-92AA-A7D21BF6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673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9586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E95863"/>
                </a:solidFill>
                <a:latin typeface="Noto Sans TC"/>
                <a:ea typeface="Noto Sans TC"/>
                <a:cs typeface="Noto Sans TC"/>
              </a:rPr>
              <a:t>展示環境提醒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BE0BAA-60DB-4980-909F-0963CB6F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810250"/>
            <a:ext cx="4619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1738A"/>
                </a:solidFill>
                <a:latin typeface="Noto Sans TC"/>
                <a:ea typeface="Noto Sans TC"/>
                <a:cs typeface="Noto Sans TC"/>
              </a:rPr>
              <a:t>操作裝置與板子須能互相連線；HTTP 網址可能需要額外允許瀏覽器麥克風。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C3D94-A326-4F18-96C0-A5A76068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8190A3"/>
                </a:solidFill>
                <a:latin typeface="Noto Sans TC"/>
                <a:ea typeface="Noto Sans TC"/>
                <a:cs typeface="Noto Sans TC"/>
              </a:rPr>
              <a:t>AMB82-MINI 語音燈光控制  ·  07</a:t>
            </a:r>
          </a:p>
        </p:txBody>
      </p:sp>
    </p:spTree>
    <p:extLst>
      <p:ext uri="{BB962C8B-B14F-4D97-AF65-F5344CB8AC3E}">
        <p14:creationId xmlns:p14="http://schemas.microsoft.com/office/powerpoint/2010/main" val="1123723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2026-09-23T10:35:45.9900000Z</dcterms:created>
  <dcterms:modified xsi:type="dcterms:W3CDTF">2026-09-23T10:35:45.9900000Z</dcterms:modified>
</coreProperties>
</file>